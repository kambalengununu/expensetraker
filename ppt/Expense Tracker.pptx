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Frunchy Sage" charset="1" panose="00000000000000000000"/>
      <p:regular r:id="rId19"/>
    </p:embeddedFont>
    <p:embeddedFont>
      <p:font typeface="Luthier" charset="1" panose="00000000000000000000"/>
      <p:regular r:id="rId20"/>
    </p:embeddedFont>
    <p:embeddedFont>
      <p:font typeface="Canva Sans Bold" charset="1" panose="020B0803030501040103"/>
      <p:regular r:id="rId21"/>
    </p:embeddedFont>
    <p:embeddedFont>
      <p:font typeface="Luthier Bold" charset="1" panose="00000000000000000000"/>
      <p:regular r:id="rId22"/>
    </p:embeddedFont>
    <p:embeddedFont>
      <p:font typeface="Frunchy Sage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3168" y="6552040"/>
            <a:ext cx="8521665" cy="159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0"/>
              </a:lnSpc>
            </a:pPr>
            <a:r>
              <a:rPr lang="en-US" sz="120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and Planner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273652" y="2919432"/>
            <a:ext cx="7740697" cy="3587975"/>
            <a:chOff x="0" y="0"/>
            <a:chExt cx="1369949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99491" cy="6350000"/>
            </a:xfrm>
            <a:custGeom>
              <a:avLst/>
              <a:gdLst/>
              <a:ahLst/>
              <a:cxnLst/>
              <a:rect r="r" b="b" t="t" l="l"/>
              <a:pathLst>
                <a:path h="6350000" w="13699491">
                  <a:moveTo>
                    <a:pt x="13699489" y="6350000"/>
                  </a:moveTo>
                  <a:lnTo>
                    <a:pt x="0" y="6350000"/>
                  </a:lnTo>
                  <a:lnTo>
                    <a:pt x="0" y="1899920"/>
                  </a:lnTo>
                  <a:cubicBezTo>
                    <a:pt x="0" y="1899920"/>
                    <a:pt x="2849880" y="0"/>
                    <a:pt x="6899910" y="0"/>
                  </a:cubicBezTo>
                  <a:cubicBezTo>
                    <a:pt x="11300460" y="0"/>
                    <a:pt x="13699491" y="1899920"/>
                    <a:pt x="13699491" y="1899920"/>
                  </a:cubicBezTo>
                  <a:lnTo>
                    <a:pt x="13699491" y="6350000"/>
                  </a:lnTo>
                  <a:close/>
                </a:path>
              </a:pathLst>
            </a:custGeom>
            <a:blipFill>
              <a:blip r:embed="rId2"/>
              <a:stretch>
                <a:fillRect l="0" t="-61805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551866" y="4977253"/>
            <a:ext cx="332493" cy="332493"/>
          </a:xfrm>
          <a:custGeom>
            <a:avLst/>
            <a:gdLst/>
            <a:ahLst/>
            <a:cxnLst/>
            <a:rect r="r" b="b" t="t" l="l"/>
            <a:pathLst>
              <a:path h="332493" w="332493">
                <a:moveTo>
                  <a:pt x="0" y="0"/>
                </a:moveTo>
                <a:lnTo>
                  <a:pt x="332493" y="0"/>
                </a:lnTo>
                <a:lnTo>
                  <a:pt x="332493" y="332494"/>
                </a:lnTo>
                <a:lnTo>
                  <a:pt x="0" y="332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33042" y="4977253"/>
            <a:ext cx="332493" cy="332493"/>
          </a:xfrm>
          <a:custGeom>
            <a:avLst/>
            <a:gdLst/>
            <a:ahLst/>
            <a:cxnLst/>
            <a:rect r="r" b="b" t="t" l="l"/>
            <a:pathLst>
              <a:path h="332493" w="332493">
                <a:moveTo>
                  <a:pt x="0" y="0"/>
                </a:moveTo>
                <a:lnTo>
                  <a:pt x="332493" y="0"/>
                </a:lnTo>
                <a:lnTo>
                  <a:pt x="332493" y="332494"/>
                </a:lnTo>
                <a:lnTo>
                  <a:pt x="0" y="332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71267" y="1348064"/>
            <a:ext cx="12145467" cy="359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0"/>
              </a:lnSpc>
            </a:pPr>
            <a:r>
              <a:rPr lang="en-US" sz="120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Personal Expense Tracker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88705" y="8980999"/>
            <a:ext cx="6910589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group work</a:t>
            </a:r>
          </a:p>
        </p:txBody>
      </p:sp>
      <p:sp>
        <p:nvSpPr>
          <p:cNvPr name="AutoShape 9" id="9"/>
          <p:cNvSpPr/>
          <p:nvPr/>
        </p:nvSpPr>
        <p:spPr>
          <a:xfrm rot="881">
            <a:off x="1" y="8364022"/>
            <a:ext cx="18567074" cy="0"/>
          </a:xfrm>
          <a:prstGeom prst="line">
            <a:avLst/>
          </a:prstGeom>
          <a:ln cap="rnd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5485" y="816220"/>
            <a:ext cx="7973815" cy="3189526"/>
            <a:chOff x="0" y="0"/>
            <a:chExt cx="63500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1270000"/>
                  </a:move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cubicBezTo>
                    <a:pt x="6350000" y="1971040"/>
                    <a:pt x="5781040" y="2540000"/>
                    <a:pt x="5080000" y="2540000"/>
                  </a:cubicBezTo>
                  <a:lnTo>
                    <a:pt x="1270000" y="2540000"/>
                  </a:lnTo>
                  <a:cubicBezTo>
                    <a:pt x="568960" y="2540000"/>
                    <a:pt x="0" y="1971040"/>
                    <a:pt x="0" y="1270000"/>
                  </a:cubicBezTo>
                  <a:close/>
                </a:path>
              </a:pathLst>
            </a:custGeom>
            <a:blipFill>
              <a:blip r:embed="rId2"/>
              <a:stretch>
                <a:fillRect l="0" t="-33333" r="0" b="-3333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00307" y="644770"/>
            <a:ext cx="546496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44480" y="4909503"/>
            <a:ext cx="8199041" cy="385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This d</a:t>
            </a:r>
            <a:r>
              <a:rPr lang="en-US" sz="26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ocumentation explores :</a:t>
            </a:r>
          </a:p>
          <a:p>
            <a:pPr algn="ctr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undersand the meaning of personal expense tracker</a:t>
            </a:r>
          </a:p>
          <a:p>
            <a:pPr algn="ctr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the importance personal expense tracker</a:t>
            </a:r>
          </a:p>
          <a:p>
            <a:pPr algn="ctr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challenges</a:t>
            </a:r>
          </a:p>
          <a:p>
            <a:pPr algn="ctr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types</a:t>
            </a:r>
          </a:p>
          <a:p>
            <a:pPr algn="ctr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 features</a:t>
            </a:r>
          </a:p>
          <a:p>
            <a:pPr algn="ctr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and best practices related to expense tracking.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86510" y="0"/>
            <a:ext cx="8601490" cy="5160894"/>
          </a:xfrm>
          <a:custGeom>
            <a:avLst/>
            <a:gdLst/>
            <a:ahLst/>
            <a:cxnLst/>
            <a:rect r="r" b="b" t="t" l="l"/>
            <a:pathLst>
              <a:path h="5160894" w="8601490">
                <a:moveTo>
                  <a:pt x="0" y="0"/>
                </a:moveTo>
                <a:lnTo>
                  <a:pt x="8601490" y="0"/>
                </a:lnTo>
                <a:lnTo>
                  <a:pt x="8601490" y="5160894"/>
                </a:lnTo>
                <a:lnTo>
                  <a:pt x="0" y="5160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151214"/>
            <a:ext cx="17110075" cy="217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Managing personal finances is essential in today's fast-paced world.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A Personal Expense Tracker serves as a tool to monitor and manage individual spending,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 ultimately promoting financial stability,and manage budgets in a streamlined and user-friendly interface.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35547" y="756920"/>
            <a:ext cx="5264051" cy="13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uthier Bold"/>
                <a:ea typeface="Luthier Bold"/>
                <a:cs typeface="Luthier Bold"/>
                <a:sym typeface="Luthier Bold"/>
              </a:rPr>
              <a:t>undersand the meaning of personal</a:t>
            </a:r>
          </a:p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FFFFFF"/>
                </a:solidFill>
                <a:latin typeface="Luthier Bold"/>
                <a:ea typeface="Luthier Bold"/>
                <a:cs typeface="Luthier Bold"/>
                <a:sym typeface="Luthier Bold"/>
              </a:rPr>
              <a:t> expense tracker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8868" y="788665"/>
            <a:ext cx="7335820" cy="319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95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the</a:t>
            </a:r>
            <a:r>
              <a:rPr lang="en-US" sz="95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 importance personal expense tracker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0346" y="3904615"/>
            <a:ext cx="17347307" cy="180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Luthier Bold"/>
                <a:ea typeface="Luthier Bold"/>
                <a:cs typeface="Luthier Bold"/>
                <a:sym typeface="Luthier Bold"/>
              </a:rPr>
              <a:t>Tracking personal expenses is vital for maintaining financial health. It allows individuals to: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314185" y="0"/>
            <a:ext cx="7973815" cy="3189526"/>
            <a:chOff x="0" y="0"/>
            <a:chExt cx="6350000" cy="254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1270000"/>
                  </a:move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cubicBezTo>
                    <a:pt x="6350000" y="1971040"/>
                    <a:pt x="5781040" y="2540000"/>
                    <a:pt x="5080000" y="2540000"/>
                  </a:cubicBezTo>
                  <a:lnTo>
                    <a:pt x="1270000" y="2540000"/>
                  </a:lnTo>
                  <a:cubicBezTo>
                    <a:pt x="568960" y="2540000"/>
                    <a:pt x="0" y="1971040"/>
                    <a:pt x="0" y="1270000"/>
                  </a:cubicBezTo>
                  <a:close/>
                </a:path>
              </a:pathLst>
            </a:custGeom>
            <a:blipFill>
              <a:blip r:embed="rId2"/>
              <a:stretch>
                <a:fillRect l="0" t="-33333" r="0" b="-3333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99849" y="5228588"/>
            <a:ext cx="5578589" cy="2524910"/>
            <a:chOff x="0" y="0"/>
            <a:chExt cx="7438118" cy="336654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54182"/>
              <a:ext cx="7438118" cy="2412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Understand where their money goes.</a:t>
              </a:r>
            </a:p>
            <a:p>
              <a:pPr algn="l">
                <a:lnSpc>
                  <a:spcPts val="3080"/>
                </a:lnSpc>
              </a:pPr>
            </a:p>
            <a:p>
              <a:pPr algn="l">
                <a:lnSpc>
                  <a:spcPts val="3080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7438118" cy="107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 b="true">
                  <a:solidFill>
                    <a:srgbClr val="FFFFFF"/>
                  </a:solidFill>
                  <a:latin typeface="Frunchy Sage Bold"/>
                  <a:ea typeface="Frunchy Sage Bold"/>
                  <a:cs typeface="Frunchy Sage Bold"/>
                  <a:sym typeface="Frunchy Sage Bold"/>
                </a:rPr>
                <a:t>Goal 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069991" y="5349352"/>
            <a:ext cx="5578589" cy="2524910"/>
            <a:chOff x="0" y="0"/>
            <a:chExt cx="7438118" cy="33665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4182"/>
              <a:ext cx="7438118" cy="2412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Recognize and evaluate spending patterns.</a:t>
              </a:r>
            </a:p>
            <a:p>
              <a:pPr algn="l">
                <a:lnSpc>
                  <a:spcPts val="3080"/>
                </a:lnSpc>
              </a:pPr>
            </a:p>
            <a:p>
              <a:pPr algn="l">
                <a:lnSpc>
                  <a:spcPts val="308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7438118" cy="107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 b="true">
                  <a:solidFill>
                    <a:srgbClr val="FFFFFF"/>
                  </a:solidFill>
                  <a:latin typeface="Frunchy Sage Bold"/>
                  <a:ea typeface="Frunchy Sage Bold"/>
                  <a:cs typeface="Frunchy Sage Bold"/>
                  <a:sym typeface="Frunchy Sage Bold"/>
                </a:rPr>
                <a:t>Goal  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99849" y="7753386"/>
            <a:ext cx="5578589" cy="2524910"/>
            <a:chOff x="0" y="0"/>
            <a:chExt cx="7438118" cy="336654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4182"/>
              <a:ext cx="7438118" cy="2412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Make informed financial decisions.</a:t>
              </a:r>
            </a:p>
            <a:p>
              <a:pPr algn="l">
                <a:lnSpc>
                  <a:spcPts val="3080"/>
                </a:lnSpc>
              </a:pPr>
            </a:p>
            <a:p>
              <a:pPr algn="l">
                <a:lnSpc>
                  <a:spcPts val="308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7438118" cy="107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 b="true">
                  <a:solidFill>
                    <a:srgbClr val="FFFFFF"/>
                  </a:solidFill>
                  <a:latin typeface="Frunchy Sage Bold"/>
                  <a:ea typeface="Frunchy Sage Bold"/>
                  <a:cs typeface="Frunchy Sage Bold"/>
                  <a:sym typeface="Frunchy Sage Bold"/>
                </a:rPr>
                <a:t>Goal  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69991" y="7563470"/>
            <a:ext cx="5578589" cy="2524910"/>
            <a:chOff x="0" y="0"/>
            <a:chExt cx="7438118" cy="336654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4182"/>
              <a:ext cx="7438118" cy="2412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Avoid unnecessary expenses and save for future needs.</a:t>
              </a:r>
            </a:p>
            <a:p>
              <a:pPr algn="l">
                <a:lnSpc>
                  <a:spcPts val="3080"/>
                </a:lnSpc>
              </a:pPr>
            </a:p>
            <a:p>
              <a:pPr algn="l">
                <a:lnSpc>
                  <a:spcPts val="3080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71450"/>
              <a:ext cx="7438118" cy="107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 b="true">
                  <a:solidFill>
                    <a:srgbClr val="FFFFFF"/>
                  </a:solidFill>
                  <a:latin typeface="Frunchy Sage Bold"/>
                  <a:ea typeface="Frunchy Sage Bold"/>
                  <a:cs typeface="Frunchy Sage Bold"/>
                  <a:sym typeface="Frunchy Sage Bold"/>
                </a:rPr>
                <a:t>Goal 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50867" y="-17394"/>
            <a:ext cx="6537133" cy="4812715"/>
          </a:xfrm>
          <a:custGeom>
            <a:avLst/>
            <a:gdLst/>
            <a:ahLst/>
            <a:cxnLst/>
            <a:rect r="r" b="b" t="t" l="l"/>
            <a:pathLst>
              <a:path h="4812715" w="6537133">
                <a:moveTo>
                  <a:pt x="0" y="0"/>
                </a:moveTo>
                <a:lnTo>
                  <a:pt x="6537133" y="0"/>
                </a:lnTo>
                <a:lnTo>
                  <a:pt x="6537133" y="4812714"/>
                </a:lnTo>
                <a:lnTo>
                  <a:pt x="0" y="4812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5223" y="5515891"/>
            <a:ext cx="14747974" cy="297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Luthier Bold"/>
                <a:ea typeface="Luthier Bold"/>
                <a:cs typeface="Luthier Bold"/>
                <a:sym typeface="Luthier Bold"/>
              </a:rPr>
              <a:t>Lack of Time:</a:t>
            </a:r>
            <a:r>
              <a:rPr lang="en-US" sz="41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 Daily life can make consistent tracking difficult.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Luthier Bold"/>
                <a:ea typeface="Luthier Bold"/>
                <a:cs typeface="Luthier Bold"/>
                <a:sym typeface="Luthier Bold"/>
              </a:rPr>
              <a:t>Forgetfulness: </a:t>
            </a:r>
            <a:r>
              <a:rPr lang="en-US" sz="41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Small transactions are often missed.                   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Luthier Bold"/>
                <a:ea typeface="Luthier Bold"/>
                <a:cs typeface="Luthier Bold"/>
                <a:sym typeface="Luthier Bold"/>
              </a:rPr>
              <a:t>Unawareness:</a:t>
            </a:r>
            <a:r>
              <a:rPr lang="en-US" sz="41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 Many don’t know where to begin or how to track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 efficiently.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47170"/>
            <a:ext cx="9317633" cy="124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Common </a:t>
            </a:r>
            <a:r>
              <a:rPr lang="en-US" b="true" sz="7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9288" y="2584855"/>
            <a:ext cx="4394210" cy="4763887"/>
            <a:chOff x="0" y="0"/>
            <a:chExt cx="585724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5724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857240">
                  <a:moveTo>
                    <a:pt x="2928620" y="0"/>
                  </a:moveTo>
                  <a:cubicBezTo>
                    <a:pt x="4546600" y="0"/>
                    <a:pt x="5857240" y="1310640"/>
                    <a:pt x="5857240" y="2928620"/>
                  </a:cubicBezTo>
                  <a:lnTo>
                    <a:pt x="5857240" y="6350000"/>
                  </a:lnTo>
                  <a:lnTo>
                    <a:pt x="0" y="6350000"/>
                  </a:lnTo>
                  <a:lnTo>
                    <a:pt x="0" y="2928620"/>
                  </a:lnTo>
                  <a:cubicBezTo>
                    <a:pt x="0" y="1310640"/>
                    <a:pt x="1310640" y="0"/>
                    <a:pt x="292862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258" r="0" b="-4258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0">
            <a:off x="9144000" y="0"/>
            <a:ext cx="9144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5" id="5"/>
          <p:cNvSpPr txBox="true"/>
          <p:nvPr/>
        </p:nvSpPr>
        <p:spPr>
          <a:xfrm rot="0">
            <a:off x="938368" y="1028660"/>
            <a:ext cx="7576050" cy="292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4"/>
              </a:lnSpc>
            </a:pPr>
            <a:r>
              <a:rPr lang="en-US" sz="9642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Reminders for Myself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2394" y="7888492"/>
            <a:ext cx="6316646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With My Goals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2394" y="4861930"/>
            <a:ext cx="6316646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to Be Smart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60770" y="1771467"/>
            <a:ext cx="6061952" cy="6591724"/>
            <a:chOff x="0" y="0"/>
            <a:chExt cx="8082602" cy="878896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8082602" cy="566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301C22"/>
                  </a:solidFill>
                  <a:latin typeface="Luthier"/>
                  <a:ea typeface="Luthier"/>
                  <a:cs typeface="Luthier"/>
                  <a:sym typeface="Luthier"/>
                </a:rPr>
                <a:t>I will be specific with my goals.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421458"/>
              <a:ext cx="8082602" cy="1150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301C22"/>
                  </a:solidFill>
                  <a:latin typeface="Luthier"/>
                  <a:ea typeface="Luthier"/>
                  <a:cs typeface="Luthier"/>
                  <a:sym typeface="Luthier"/>
                </a:rPr>
                <a:t>I will measure my success by creating practical milestones.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493825"/>
              <a:ext cx="8082602" cy="1150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301C22"/>
                  </a:solidFill>
                  <a:latin typeface="Luthier"/>
                  <a:ea typeface="Luthier"/>
                  <a:cs typeface="Luthier"/>
                  <a:sym typeface="Luthier"/>
                </a:rPr>
                <a:t>I will ensure my milestones and goals are achievable with the timeline I'll set.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566191"/>
              <a:ext cx="8082602" cy="1150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301C22"/>
                  </a:solidFill>
                  <a:latin typeface="Luthier"/>
                  <a:ea typeface="Luthier"/>
                  <a:cs typeface="Luthier"/>
                  <a:sym typeface="Luthier"/>
                </a:rPr>
                <a:t>I will work on goals that are relevant and align with my values and core beliefs.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638558"/>
              <a:ext cx="8082602" cy="1150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301C22"/>
                  </a:solidFill>
                  <a:latin typeface="Luthier"/>
                  <a:ea typeface="Luthier"/>
                  <a:cs typeface="Luthier"/>
                  <a:sym typeface="Luthier"/>
                </a:rPr>
                <a:t>I will set a workable timeline so I know when to check in with myself.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2614639"/>
          <a:ext cx="17259300" cy="5591175"/>
        </p:xfrm>
        <a:graphic>
          <a:graphicData uri="http://schemas.openxmlformats.org/drawingml/2006/table">
            <a:tbl>
              <a:tblPr/>
              <a:tblGrid>
                <a:gridCol w="3984360"/>
                <a:gridCol w="3984360"/>
                <a:gridCol w="3984360"/>
                <a:gridCol w="5306219"/>
              </a:tblGrid>
              <a:tr h="10914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Frunchy Sage"/>
                          <a:ea typeface="Frunchy Sage"/>
                          <a:cs typeface="Frunchy Sage"/>
                          <a:sym typeface="Frunchy Sage"/>
                        </a:rPr>
                        <a:t>Month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Frunchy Sage"/>
                          <a:ea typeface="Frunchy Sage"/>
                          <a:cs typeface="Frunchy Sage"/>
                          <a:sym typeface="Frunchy Sage"/>
                        </a:rPr>
                        <a:t>Income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Frunchy Sage"/>
                          <a:ea typeface="Frunchy Sage"/>
                          <a:cs typeface="Frunchy Sage"/>
                          <a:sym typeface="Frunchy Sage"/>
                        </a:rPr>
                        <a:t>Budget for Expenses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Frunchy Sage"/>
                          <a:ea typeface="Frunchy Sage"/>
                          <a:cs typeface="Frunchy Sage"/>
                          <a:sym typeface="Frunchy Sage"/>
                        </a:rPr>
                        <a:t>Balance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January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$25,000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$10,000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$15,000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February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$25,000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$10,000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$15,000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March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April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May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9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June</a:t>
                      </a: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9144000" y="8682261"/>
            <a:ext cx="271479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Total Balance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of Savings: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30550" y="8867924"/>
            <a:ext cx="271479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Luthier Bold"/>
                <a:ea typeface="Luthier Bold"/>
                <a:cs typeface="Luthier Bold"/>
                <a:sym typeface="Luthier Bold"/>
              </a:rPr>
              <a:t>$30,000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35847"/>
            <a:ext cx="6193760" cy="127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95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Savings Tracker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20629" y="962025"/>
            <a:ext cx="438671" cy="42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73300"/>
            <a:ext cx="16230600" cy="2006601"/>
            <a:chOff x="0" y="0"/>
            <a:chExt cx="21640800" cy="267546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6992" r="0" b="49402"/>
            <a:stretch>
              <a:fillRect/>
            </a:stretch>
          </p:blipFill>
          <p:spPr>
            <a:xfrm flipH="false" flipV="false">
              <a:off x="0" y="0"/>
              <a:ext cx="21640800" cy="2675468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28700" y="916070"/>
            <a:ext cx="10522078" cy="127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95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My Kinds of Expenses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5011355"/>
            <a:ext cx="3365403" cy="4051611"/>
            <a:chOff x="0" y="0"/>
            <a:chExt cx="4487204" cy="540214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82608"/>
              <a:ext cx="4487204" cy="1023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Expenses that remain the same every month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816366"/>
              <a:ext cx="4487204" cy="2585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Rent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Mortgage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Car payment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TV and cable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Communication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4487204" cy="10729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 b="true">
                  <a:solidFill>
                    <a:srgbClr val="FFFFFF"/>
                  </a:solidFill>
                  <a:latin typeface="Frunchy Sage Bold"/>
                  <a:ea typeface="Frunchy Sage Bold"/>
                  <a:cs typeface="Frunchy Sage Bold"/>
                  <a:sym typeface="Frunchy Sage Bold"/>
                </a:rPr>
                <a:t>Fixed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58133" y="5011355"/>
            <a:ext cx="3365403" cy="3629293"/>
            <a:chOff x="0" y="0"/>
            <a:chExt cx="4487204" cy="483905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774143"/>
              <a:ext cx="4487204" cy="2064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Tuition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Insurance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Home repairs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Car repairs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82608"/>
              <a:ext cx="4487204" cy="1023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Expenses that occur at various times only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71450"/>
              <a:ext cx="4487204" cy="10729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 b="true">
                  <a:solidFill>
                    <a:srgbClr val="FFFFFF"/>
                  </a:solidFill>
                  <a:latin typeface="Frunchy Sage Bold"/>
                  <a:ea typeface="Frunchy Sage Bold"/>
                  <a:cs typeface="Frunchy Sage Bold"/>
                  <a:sym typeface="Frunchy Sage Bold"/>
                </a:rPr>
                <a:t>Intermittent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93416" y="5011355"/>
            <a:ext cx="3365403" cy="4019719"/>
            <a:chOff x="0" y="0"/>
            <a:chExt cx="4487204" cy="535962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2774143"/>
              <a:ext cx="4487204" cy="2585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Electricity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Water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Gas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Food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Clothing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82608"/>
              <a:ext cx="4487204" cy="1023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Expenses that vary from every month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171450"/>
              <a:ext cx="4487204" cy="10729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 b="true">
                  <a:solidFill>
                    <a:srgbClr val="FFFFFF"/>
                  </a:solidFill>
                  <a:latin typeface="Frunchy Sage Bold"/>
                  <a:ea typeface="Frunchy Sage Bold"/>
                  <a:cs typeface="Frunchy Sage Bold"/>
                  <a:sym typeface="Frunchy Sage Bold"/>
                </a:rPr>
                <a:t>Variable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22849" y="5011355"/>
            <a:ext cx="3365403" cy="3103231"/>
            <a:chOff x="0" y="0"/>
            <a:chExt cx="4487204" cy="4137641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2593294"/>
              <a:ext cx="4487204" cy="1544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Shopping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Gifts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Food delivery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982608"/>
              <a:ext cx="4487204" cy="1023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Expenses to reward ourselves with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71450"/>
              <a:ext cx="4487204" cy="10729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 b="true">
                  <a:solidFill>
                    <a:srgbClr val="FFFFFF"/>
                  </a:solidFill>
                  <a:latin typeface="Frunchy Sage Bold"/>
                  <a:ea typeface="Frunchy Sage Bold"/>
                  <a:cs typeface="Frunchy Sage Bold"/>
                  <a:sym typeface="Frunchy Sage Bold"/>
                </a:rPr>
                <a:t>Discretionary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5399999">
            <a:off x="2051295" y="7620475"/>
            <a:ext cx="5380166" cy="0"/>
          </a:xfrm>
          <a:prstGeom prst="line">
            <a:avLst/>
          </a:prstGeom>
          <a:ln cap="rnd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5403043">
            <a:off x="6113630" y="7620475"/>
            <a:ext cx="5380168" cy="0"/>
          </a:xfrm>
          <a:prstGeom prst="line">
            <a:avLst/>
          </a:prstGeom>
          <a:ln cap="rnd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5396956">
            <a:off x="10183108" y="7620475"/>
            <a:ext cx="5380168" cy="0"/>
          </a:xfrm>
          <a:prstGeom prst="line">
            <a:avLst/>
          </a:prstGeom>
          <a:ln cap="rnd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6820629" y="962025"/>
            <a:ext cx="438671" cy="42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794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21540" y="3050395"/>
          <a:ext cx="10829239" cy="6174568"/>
        </p:xfrm>
        <a:graphic>
          <a:graphicData uri="http://schemas.openxmlformats.org/drawingml/2006/table">
            <a:tbl>
              <a:tblPr/>
              <a:tblGrid>
                <a:gridCol w="2165848"/>
                <a:gridCol w="2165848"/>
                <a:gridCol w="2165848"/>
                <a:gridCol w="2165848"/>
                <a:gridCol w="2165848"/>
              </a:tblGrid>
              <a:tr h="1474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FFFFFF"/>
                          </a:solidFill>
                          <a:latin typeface="Frunchy Sage Bold"/>
                          <a:ea typeface="Frunchy Sage Bold"/>
                          <a:cs typeface="Frunchy Sage Bold"/>
                          <a:sym typeface="Frunchy Sage Bold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FFFFFF"/>
                          </a:solidFill>
                          <a:latin typeface="Frunchy Sage Bold"/>
                          <a:ea typeface="Frunchy Sage Bold"/>
                          <a:cs typeface="Frunchy Sage Bold"/>
                          <a:sym typeface="Frunchy Sage Bold"/>
                        </a:rPr>
                        <a:t>Type of Expense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FFFFFF"/>
                          </a:solidFill>
                          <a:latin typeface="Frunchy Sage Bold"/>
                          <a:ea typeface="Frunchy Sage Bold"/>
                          <a:cs typeface="Frunchy Sage Bold"/>
                          <a:sym typeface="Frunchy Sage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FFFFFF"/>
                          </a:solidFill>
                          <a:latin typeface="Frunchy Sage Bold"/>
                          <a:ea typeface="Frunchy Sage Bold"/>
                          <a:cs typeface="Frunchy Sage Bold"/>
                          <a:sym typeface="Frunchy Sage Bold"/>
                        </a:rPr>
                        <a:t>Amount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FFFFFF"/>
                          </a:solidFill>
                          <a:latin typeface="Frunchy Sage Bold"/>
                          <a:ea typeface="Frunchy Sage Bold"/>
                          <a:cs typeface="Frunchy Sage Bold"/>
                          <a:sym typeface="Frunchy Sage Bold"/>
                        </a:rPr>
                        <a:t>Balance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January 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Rent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$2,500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Luthier"/>
                          <a:ea typeface="Luthier"/>
                          <a:cs typeface="Luthier"/>
                          <a:sym typeface="Luthier"/>
                        </a:rPr>
                        <a:t>$12,500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64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3" id="3"/>
          <p:cNvSpPr/>
          <p:nvPr/>
        </p:nvSpPr>
        <p:spPr>
          <a:xfrm rot="0">
            <a:off x="12272318" y="0"/>
            <a:ext cx="6015682" cy="10287000"/>
          </a:xfrm>
          <a:prstGeom prst="rect">
            <a:avLst/>
          </a:prstGeom>
          <a:solidFill>
            <a:srgbClr val="592D3A"/>
          </a:solidFill>
        </p:spPr>
      </p:sp>
      <p:sp>
        <p:nvSpPr>
          <p:cNvPr name="AutoShape 4" id="4"/>
          <p:cNvSpPr/>
          <p:nvPr/>
        </p:nvSpPr>
        <p:spPr>
          <a:xfrm rot="-10800000">
            <a:off x="13107849" y="6170685"/>
            <a:ext cx="518015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10800000">
            <a:off x="13107849" y="4432782"/>
            <a:ext cx="518015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182263" y="7349402"/>
            <a:ext cx="283884" cy="283884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5668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61537" y="4850910"/>
            <a:ext cx="283884" cy="28388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5668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182263" y="7834137"/>
            <a:ext cx="283884" cy="28388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FA59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182263" y="8380258"/>
            <a:ext cx="283884" cy="28388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FD8A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82263" y="8915717"/>
            <a:ext cx="283884" cy="28388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1D68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21540" y="835847"/>
            <a:ext cx="10522078" cy="127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95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Expenses Tracker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107849" y="2973771"/>
            <a:ext cx="2017237" cy="1114364"/>
            <a:chOff x="0" y="0"/>
            <a:chExt cx="2689649" cy="148581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982608"/>
              <a:ext cx="2689649" cy="503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January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71450"/>
              <a:ext cx="2689649" cy="10729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 b="true">
                  <a:solidFill>
                    <a:srgbClr val="FFFFFF"/>
                  </a:solidFill>
                  <a:latin typeface="Frunchy Sage Bold"/>
                  <a:ea typeface="Frunchy Sage Bold"/>
                  <a:cs typeface="Frunchy Sage Bold"/>
                  <a:sym typeface="Frunchy Sage Bold"/>
                </a:rPr>
                <a:t>Month: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107849" y="5377449"/>
            <a:ext cx="2017237" cy="39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$15,000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07849" y="4483331"/>
            <a:ext cx="2017237" cy="84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FFFFFF"/>
                </a:solidFill>
                <a:latin typeface="Frunchy Sage Bold"/>
                <a:ea typeface="Frunchy Sage Bold"/>
                <a:cs typeface="Frunchy Sage Bold"/>
                <a:sym typeface="Frunchy Sage Bold"/>
              </a:rPr>
              <a:t>Budget: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79354" y="7266890"/>
            <a:ext cx="3893415" cy="39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Fixed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79354" y="8323108"/>
            <a:ext cx="3893415" cy="39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Intermittent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79354" y="7776987"/>
            <a:ext cx="3893415" cy="39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Variable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79354" y="8833205"/>
            <a:ext cx="3893415" cy="39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Discretionary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07849" y="6315044"/>
            <a:ext cx="3893415" cy="84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FFFFFF"/>
                </a:solidFill>
                <a:latin typeface="Frunchy Sage Bold"/>
                <a:ea typeface="Frunchy Sage Bold"/>
                <a:cs typeface="Frunchy Sage Bold"/>
                <a:sym typeface="Frunchy Sage Bold"/>
              </a:rPr>
              <a:t>Type of Expense: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820629" y="962025"/>
            <a:ext cx="438671" cy="42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740453" y="2898799"/>
            <a:ext cx="8522083" cy="701886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31515" y="1200150"/>
            <a:ext cx="15024969" cy="127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0">
                <a:solidFill>
                  <a:srgbClr val="FFFFFF"/>
                </a:solidFill>
                <a:latin typeface="Frunchy Sage"/>
                <a:ea typeface="Frunchy Sage"/>
                <a:cs typeface="Frunchy Sage"/>
                <a:sym typeface="Frunchy Sage"/>
              </a:rPr>
              <a:t>Summary of My Expenses</a:t>
            </a:r>
          </a:p>
        </p:txBody>
      </p:sp>
      <p:sp>
        <p:nvSpPr>
          <p:cNvPr name="AutoShape 4" id="4"/>
          <p:cNvSpPr/>
          <p:nvPr/>
        </p:nvSpPr>
        <p:spPr>
          <a:xfrm rot="881">
            <a:off x="1" y="2932807"/>
            <a:ext cx="18567074" cy="0"/>
          </a:xfrm>
          <a:prstGeom prst="line">
            <a:avLst/>
          </a:prstGeom>
          <a:ln cap="rnd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20629" y="8833551"/>
            <a:ext cx="438671" cy="42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300" y="3143250"/>
            <a:ext cx="6316646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301C22"/>
                </a:solidFill>
                <a:latin typeface="Frunchy Sage"/>
                <a:ea typeface="Frunchy Sage"/>
                <a:cs typeface="Frunchy Sage"/>
                <a:sym typeface="Frunchy Sage"/>
              </a:rPr>
              <a:t>What Can I Do to Improve My Spending Habits?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0" y="-1533823"/>
            <a:ext cx="9144000" cy="13354645"/>
            <a:chOff x="0" y="0"/>
            <a:chExt cx="12192000" cy="17806194"/>
          </a:xfrm>
        </p:grpSpPr>
        <p:sp>
          <p:nvSpPr>
            <p:cNvPr name="AutoShape 4" id="4"/>
            <p:cNvSpPr/>
            <p:nvPr/>
          </p:nvSpPr>
          <p:spPr>
            <a:xfrm rot="0">
              <a:off x="0" y="0"/>
              <a:ext cx="12192000" cy="17806194"/>
            </a:xfrm>
            <a:prstGeom prst="rect">
              <a:avLst/>
            </a:prstGeom>
            <a:solidFill>
              <a:srgbClr val="592D3A"/>
            </a:solid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087273" y="3271572"/>
              <a:ext cx="7438118" cy="2318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uthier Bold"/>
                  <a:ea typeface="Luthier Bold"/>
                  <a:cs typeface="Luthier Bold"/>
                  <a:sym typeface="Luthier Bold"/>
                </a:rPr>
                <a:t>Create a Realistic Budget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Set a monthly or weekly budget based on your income and fixed expenses</a:t>
              </a:r>
            </a:p>
            <a:p>
              <a:pPr algn="l">
                <a:lnSpc>
                  <a:spcPts val="349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087273" y="7082677"/>
              <a:ext cx="7438118" cy="1734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uthier Bold"/>
                  <a:ea typeface="Luthier Bold"/>
                  <a:cs typeface="Luthier Bold"/>
                  <a:sym typeface="Luthier Bold"/>
                </a:rPr>
                <a:t>Differentiate Needs vs Wants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Ask yourself: “Do I really need this?”</a:t>
              </a:r>
            </a:p>
            <a:p>
              <a:pPr algn="l">
                <a:lnSpc>
                  <a:spcPts val="349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7273" y="10309581"/>
              <a:ext cx="7438118" cy="3487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uthier Bold"/>
                  <a:ea typeface="Luthier Bold"/>
                  <a:cs typeface="Luthier Bold"/>
                  <a:sym typeface="Luthier Bold"/>
                </a:rPr>
                <a:t>Avoid Temptations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Unsubscribe from marketing emails.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R</a:t>
              </a:r>
              <a:r>
                <a:rPr lang="en-US" sz="2499">
                  <a:solidFill>
                    <a:srgbClr val="FFFFFF"/>
                  </a:solidFill>
                  <a:latin typeface="Luthier"/>
                  <a:ea typeface="Luthier"/>
                  <a:cs typeface="Luthier"/>
                  <a:sym typeface="Luthier"/>
                </a:rPr>
                <a:t>emove shopping apps you don't need</a:t>
              </a:r>
            </a:p>
            <a:p>
              <a:pPr algn="l">
                <a:lnSpc>
                  <a:spcPts val="3499"/>
                </a:lnSpc>
              </a:pPr>
            </a:p>
          </p:txBody>
        </p:sp>
        <p:sp>
          <p:nvSpPr>
            <p:cNvPr name="AutoShape 8" id="8"/>
            <p:cNvSpPr/>
            <p:nvPr/>
          </p:nvSpPr>
          <p:spPr>
            <a:xfrm flipH="true">
              <a:off x="2087273" y="6255187"/>
              <a:ext cx="10104727" cy="0"/>
            </a:xfrm>
            <a:prstGeom prst="line">
              <a:avLst/>
            </a:prstGeom>
            <a:ln cap="rnd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flipH="true">
              <a:off x="2087273" y="9482092"/>
              <a:ext cx="10104727" cy="0"/>
            </a:xfrm>
            <a:prstGeom prst="line">
              <a:avLst/>
            </a:prstGeom>
            <a:ln cap="rnd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flipH="true">
              <a:off x="2087273" y="14461596"/>
              <a:ext cx="10104727" cy="0"/>
            </a:xfrm>
            <a:prstGeom prst="line">
              <a:avLst/>
            </a:prstGeom>
            <a:ln cap="rnd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6820629" y="962025"/>
            <a:ext cx="438671" cy="42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51866" y="4977253"/>
            <a:ext cx="332493" cy="332493"/>
          </a:xfrm>
          <a:custGeom>
            <a:avLst/>
            <a:gdLst/>
            <a:ahLst/>
            <a:cxnLst/>
            <a:rect r="r" b="b" t="t" l="l"/>
            <a:pathLst>
              <a:path h="332493" w="332493">
                <a:moveTo>
                  <a:pt x="0" y="0"/>
                </a:moveTo>
                <a:lnTo>
                  <a:pt x="332493" y="0"/>
                </a:lnTo>
                <a:lnTo>
                  <a:pt x="332493" y="332494"/>
                </a:lnTo>
                <a:lnTo>
                  <a:pt x="0" y="332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33042" y="4977253"/>
            <a:ext cx="332493" cy="332493"/>
          </a:xfrm>
          <a:custGeom>
            <a:avLst/>
            <a:gdLst/>
            <a:ahLst/>
            <a:cxnLst/>
            <a:rect r="r" b="b" t="t" l="l"/>
            <a:pathLst>
              <a:path h="332493" w="332493">
                <a:moveTo>
                  <a:pt x="0" y="0"/>
                </a:moveTo>
                <a:lnTo>
                  <a:pt x="332493" y="0"/>
                </a:lnTo>
                <a:lnTo>
                  <a:pt x="332493" y="332494"/>
                </a:lnTo>
                <a:lnTo>
                  <a:pt x="0" y="332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65080" y="5529809"/>
            <a:ext cx="6157841" cy="3128006"/>
          </a:xfrm>
          <a:custGeom>
            <a:avLst/>
            <a:gdLst/>
            <a:ahLst/>
            <a:cxnLst/>
            <a:rect r="r" b="b" t="t" l="l"/>
            <a:pathLst>
              <a:path h="3128006" w="6157841">
                <a:moveTo>
                  <a:pt x="0" y="0"/>
                </a:moveTo>
                <a:lnTo>
                  <a:pt x="6157840" y="0"/>
                </a:lnTo>
                <a:lnTo>
                  <a:pt x="6157840" y="3128006"/>
                </a:lnTo>
                <a:lnTo>
                  <a:pt x="0" y="3128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250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75673" y="368915"/>
            <a:ext cx="11272497" cy="5160894"/>
          </a:xfrm>
          <a:custGeom>
            <a:avLst/>
            <a:gdLst/>
            <a:ahLst/>
            <a:cxnLst/>
            <a:rect r="r" b="b" t="t" l="l"/>
            <a:pathLst>
              <a:path h="5160894" w="11272497">
                <a:moveTo>
                  <a:pt x="0" y="0"/>
                </a:moveTo>
                <a:lnTo>
                  <a:pt x="11272498" y="0"/>
                </a:lnTo>
                <a:lnTo>
                  <a:pt x="11272498" y="5160894"/>
                </a:lnTo>
                <a:lnTo>
                  <a:pt x="0" y="5160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5967" r="0" b="-35967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59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919028"/>
            <a:ext cx="952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481860" y="412875"/>
            <a:ext cx="931475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members: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49257" y="4919028"/>
            <a:ext cx="238948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Luthier"/>
                <a:ea typeface="Luthier"/>
                <a:cs typeface="Luthier"/>
                <a:sym typeface="Luthier"/>
              </a:rPr>
              <a:t>Your paragraph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DAGoUmS7-S4</dc:identifier>
  <dcterms:modified xsi:type="dcterms:W3CDTF">2011-08-01T06:04:30Z</dcterms:modified>
  <cp:revision>1</cp:revision>
  <dc:title>Expense Tracker</dc:title>
</cp:coreProperties>
</file>